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Mukta Light" panose="020B0604020202020204" charset="0"/>
      <p:regular r:id="rId17"/>
    </p:embeddedFont>
    <p:embeddedFont>
      <p:font typeface="Prompt Medium" panose="00000600000000000000" pitchFamily="2" charset="-34"/>
      <p:regular r:id="rId18"/>
    </p:embeddedFont>
  </p:embeddedFontLst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40" y="-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7951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ikeka-git/Na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4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37974" y="2578418"/>
            <a:ext cx="8954333" cy="611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00"/>
              </a:lnSpc>
              <a:buNone/>
            </a:pPr>
            <a:r>
              <a:rPr lang="en-US" sz="3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MovieHub Final Defense Presentation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3278624" y="3278505"/>
            <a:ext cx="8073033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30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Native Mobile Development - Final Project</a:t>
            </a:r>
            <a:endParaRPr lang="en-US" sz="3050" dirty="0"/>
          </a:p>
        </p:txBody>
      </p:sp>
      <p:sp>
        <p:nvSpPr>
          <p:cNvPr id="4" name="Text 2"/>
          <p:cNvSpPr/>
          <p:nvPr/>
        </p:nvSpPr>
        <p:spPr>
          <a:xfrm>
            <a:off x="881063" y="4098369"/>
            <a:ext cx="12868275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Tsybus Nikita &amp; Karimbay Zhandos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81063" y="4698563"/>
            <a:ext cx="12868275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February 12, 2026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81063" y="5298758"/>
            <a:ext cx="12868275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v1.1.0</a:t>
            </a:r>
            <a:endParaRPr lang="en-US" sz="17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ED3A22-0E13-DA91-C630-80F4FB746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68" y="7122695"/>
            <a:ext cx="4680432" cy="11069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64087" y="915353"/>
            <a:ext cx="953929" cy="300633"/>
          </a:xfrm>
          <a:prstGeom prst="roundRect">
            <a:avLst>
              <a:gd name="adj" fmla="val 19297"/>
            </a:avLst>
          </a:prstGeom>
          <a:solidFill>
            <a:srgbClr val="321A2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1367671" y="967145"/>
            <a:ext cx="746760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VERSION 1.1.0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264087" y="1270040"/>
            <a:ext cx="9577149" cy="479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MovieHub: Production-Ready Movie Discovery App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264087" y="1952387"/>
            <a:ext cx="12102227" cy="1204436"/>
          </a:xfrm>
          <a:prstGeom prst="roundRect">
            <a:avLst>
              <a:gd name="adj" fmla="val 6021"/>
            </a:avLst>
          </a:prstGeom>
          <a:solidFill>
            <a:srgbClr val="0B0C23">
              <a:alpha val="95000"/>
            </a:srgbClr>
          </a:solidFill>
          <a:ln w="2286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1286947" y="1975247"/>
            <a:ext cx="690562" cy="1158716"/>
          </a:xfrm>
          <a:prstGeom prst="roundRect">
            <a:avLst>
              <a:gd name="adj" fmla="val 6528"/>
            </a:avLst>
          </a:prstGeom>
          <a:solidFill>
            <a:srgbClr val="542C4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1498878" y="2392799"/>
            <a:ext cx="258961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112764" y="2147888"/>
            <a:ext cx="1918335" cy="239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Project Overview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112764" y="2468642"/>
            <a:ext cx="11058049" cy="492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MovieHub is a robust movie discovery application engineered for performance and user experience. This final version, 1.1.0, showcases significant advancements in stability, security, and efficiency, transitioning from an academic project to a production-ready solution.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264087" y="3292078"/>
            <a:ext cx="12102227" cy="2436138"/>
          </a:xfrm>
          <a:prstGeom prst="roundRect">
            <a:avLst>
              <a:gd name="adj" fmla="val 2977"/>
            </a:avLst>
          </a:prstGeom>
          <a:solidFill>
            <a:srgbClr val="0B0C23">
              <a:alpha val="95000"/>
            </a:srgbClr>
          </a:solidFill>
          <a:ln w="2286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Shape 9"/>
          <p:cNvSpPr/>
          <p:nvPr/>
        </p:nvSpPr>
        <p:spPr>
          <a:xfrm>
            <a:off x="1286947" y="3314938"/>
            <a:ext cx="690562" cy="2390418"/>
          </a:xfrm>
          <a:prstGeom prst="roundRect">
            <a:avLst>
              <a:gd name="adj" fmla="val 6528"/>
            </a:avLst>
          </a:prstGeom>
          <a:solidFill>
            <a:srgbClr val="542C4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1498878" y="4348282"/>
            <a:ext cx="258961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12764" y="3487579"/>
            <a:ext cx="1918335" cy="239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Team &amp; Course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112764" y="3808333"/>
            <a:ext cx="11058049" cy="1724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Students:</a:t>
            </a: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Tsybus Nikita &amp; Karimbay Zhandos</a:t>
            </a:r>
            <a:endParaRPr lang="en-US" sz="13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Course:</a:t>
            </a: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Native Mobile Development</a:t>
            </a:r>
            <a:endParaRPr lang="en-US" sz="13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Version:</a:t>
            </a: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1.1.0 (Final Release)</a:t>
            </a:r>
            <a:endParaRPr lang="en-US" sz="13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Date:</a:t>
            </a: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February 13, 2026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264087" y="5863471"/>
            <a:ext cx="12102227" cy="1450777"/>
          </a:xfrm>
          <a:prstGeom prst="roundRect">
            <a:avLst>
              <a:gd name="adj" fmla="val 4998"/>
            </a:avLst>
          </a:prstGeom>
          <a:solidFill>
            <a:srgbClr val="0B0C23">
              <a:alpha val="95000"/>
            </a:srgbClr>
          </a:solidFill>
          <a:ln w="2286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Shape 14"/>
          <p:cNvSpPr/>
          <p:nvPr/>
        </p:nvSpPr>
        <p:spPr>
          <a:xfrm>
            <a:off x="1286947" y="5886331"/>
            <a:ext cx="690562" cy="1405057"/>
          </a:xfrm>
          <a:prstGeom prst="roundRect">
            <a:avLst>
              <a:gd name="adj" fmla="val 6528"/>
            </a:avLst>
          </a:prstGeom>
          <a:solidFill>
            <a:srgbClr val="542C4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1498878" y="6426994"/>
            <a:ext cx="258961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112764" y="6058972"/>
            <a:ext cx="1918335" cy="239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Code Repository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112764" y="6379726"/>
            <a:ext cx="11058049" cy="739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Explore the codebase, commit history, and detailed documentation on our GitHub:</a:t>
            </a:r>
            <a:endParaRPr lang="en-US" sz="13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50" u="sng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https://github.com/Nikeka-git/Nat</a:t>
            </a:r>
            <a:endParaRPr lang="en-US" sz="13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30FC045-77F4-7F52-AE1D-B66913C818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4504" y="7635002"/>
            <a:ext cx="3035456" cy="5016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779026"/>
            <a:ext cx="12018407" cy="611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From Endterm to Final: The Evolution of MovieHub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81063" y="1479113"/>
            <a:ext cx="6951940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Enhancing for Production Readiness</a:t>
            </a:r>
            <a:endParaRPr lang="en-US" sz="3050" dirty="0"/>
          </a:p>
        </p:txBody>
      </p:sp>
      <p:sp>
        <p:nvSpPr>
          <p:cNvPr id="4" name="Shape 2"/>
          <p:cNvSpPr/>
          <p:nvPr/>
        </p:nvSpPr>
        <p:spPr>
          <a:xfrm>
            <a:off x="881063" y="2298978"/>
            <a:ext cx="6324005" cy="660797"/>
          </a:xfrm>
          <a:prstGeom prst="roundRect">
            <a:avLst>
              <a:gd name="adj" fmla="val 480065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3877866" y="2422803"/>
            <a:ext cx="330398" cy="413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6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01328" y="3180040"/>
            <a:ext cx="3413998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Focus: Production Readiness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01328" y="3618190"/>
            <a:ext cx="5883473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Our development shifted from feature implementation to ensuring enterprise-grade stability and user satisfaction. This involved meticulous attention to build configurations, security protocols, and overall system resilience.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01328" y="5160050"/>
            <a:ext cx="5883473" cy="2070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Release build configuration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Security hardening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Performance optimization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Comprehensive documentation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Quality assurance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425333" y="2298978"/>
            <a:ext cx="6324005" cy="660797"/>
          </a:xfrm>
          <a:prstGeom prst="roundRect">
            <a:avLst>
              <a:gd name="adj" fmla="val 480065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10422136" y="2422803"/>
            <a:ext cx="330398" cy="413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6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645598" y="3180040"/>
            <a:ext cx="3064550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Key Metrics Improvement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645598" y="3618190"/>
            <a:ext cx="5883473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Significant improvements across critical performance indicators demonstrate the impact of our optimizations: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45598" y="4455200"/>
            <a:ext cx="5883473" cy="2070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70%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faster database queries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40%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fewer API calls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34%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less memory usage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17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bugs fixed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99.5%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crash-free rate</a:t>
            </a:r>
            <a:endParaRPr lang="en-US" sz="17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C320E00-934C-0C99-0735-D3CADFAC5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4944" y="7727924"/>
            <a:ext cx="3035456" cy="5016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287" y="1366957"/>
            <a:ext cx="5082302" cy="488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Release Build &amp; Packaging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1152287" y="1911429"/>
            <a:ext cx="6447115" cy="39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Ensuring Secure and Efficient Deployment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1152287" y="2512695"/>
            <a:ext cx="4015026" cy="4349948"/>
          </a:xfrm>
          <a:prstGeom prst="roundRect">
            <a:avLst>
              <a:gd name="adj" fmla="val 1839"/>
            </a:avLst>
          </a:prstGeom>
          <a:solidFill>
            <a:srgbClr val="0B0C23">
              <a:alpha val="95000"/>
            </a:srgbClr>
          </a:solidFill>
          <a:ln w="2286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1350883" y="2711291"/>
            <a:ext cx="2024896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Version Management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50883" y="3039666"/>
            <a:ext cx="3617833" cy="505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Precise versioning ensures trackability and compatibility for future updates.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50883" y="3629620"/>
            <a:ext cx="3617833" cy="789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versionCode = 2versionName = "1.1.0"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307568" y="2512695"/>
            <a:ext cx="4015145" cy="4349948"/>
          </a:xfrm>
          <a:prstGeom prst="roundRect">
            <a:avLst>
              <a:gd name="adj" fmla="val 1839"/>
            </a:avLst>
          </a:prstGeom>
          <a:solidFill>
            <a:srgbClr val="0B0C23">
              <a:alpha val="95000"/>
            </a:srgbClr>
          </a:solidFill>
          <a:ln w="2286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5506164" y="2711291"/>
            <a:ext cx="1953816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Build Configurations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769888" y="3113365"/>
            <a:ext cx="3354229" cy="3392805"/>
          </a:xfrm>
          <a:prstGeom prst="roundRect">
            <a:avLst>
              <a:gd name="adj" fmla="val 2202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Shape 9"/>
          <p:cNvSpPr/>
          <p:nvPr/>
        </p:nvSpPr>
        <p:spPr>
          <a:xfrm>
            <a:off x="5777508" y="3120985"/>
            <a:ext cx="3338989" cy="68937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5953363" y="3212783"/>
            <a:ext cx="757833" cy="505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Configuration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070288" y="3212783"/>
            <a:ext cx="753785" cy="252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Debug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183166" y="3212783"/>
            <a:ext cx="757595" cy="252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Release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777508" y="3810357"/>
            <a:ext cx="3338989" cy="4364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5953363" y="3902154"/>
            <a:ext cx="757833" cy="252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Logging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070288" y="3902154"/>
            <a:ext cx="753785" cy="252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Enabled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183166" y="3902154"/>
            <a:ext cx="757595" cy="252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Disabled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777508" y="4246840"/>
            <a:ext cx="3338989" cy="4364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5953363" y="4338638"/>
            <a:ext cx="757833" cy="252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ProGuard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70288" y="4338638"/>
            <a:ext cx="753785" cy="252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Off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183166" y="4338638"/>
            <a:ext cx="757595" cy="252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On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777508" y="4683323"/>
            <a:ext cx="3338989" cy="68937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4" name="Text 22"/>
          <p:cNvSpPr/>
          <p:nvPr/>
        </p:nvSpPr>
        <p:spPr>
          <a:xfrm>
            <a:off x="5953363" y="4775121"/>
            <a:ext cx="757833" cy="252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Signing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070288" y="4775121"/>
            <a:ext cx="753785" cy="252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Debug key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183166" y="4775121"/>
            <a:ext cx="757595" cy="505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Release key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777508" y="5372695"/>
            <a:ext cx="3338989" cy="68937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8" name="Text 26"/>
          <p:cNvSpPr/>
          <p:nvPr/>
        </p:nvSpPr>
        <p:spPr>
          <a:xfrm>
            <a:off x="5953363" y="5464493"/>
            <a:ext cx="757833" cy="252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Endpoints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070288" y="5464493"/>
            <a:ext cx="753785" cy="252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Dev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183166" y="5464493"/>
            <a:ext cx="757595" cy="505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Production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777508" y="6062067"/>
            <a:ext cx="3338989" cy="4364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2" name="Text 30"/>
          <p:cNvSpPr/>
          <p:nvPr/>
        </p:nvSpPr>
        <p:spPr>
          <a:xfrm>
            <a:off x="5953363" y="6153864"/>
            <a:ext cx="757833" cy="252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APK Size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070288" y="6153864"/>
            <a:ext cx="753785" cy="252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9.5 MB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183166" y="6153864"/>
            <a:ext cx="757595" cy="252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8.2 MB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5506164" y="3113365"/>
            <a:ext cx="22860" cy="3392805"/>
          </a:xfrm>
          <a:prstGeom prst="rect">
            <a:avLst/>
          </a:prstGeom>
          <a:solidFill>
            <a:srgbClr val="A95B95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6" name="Shape 34"/>
          <p:cNvSpPr/>
          <p:nvPr/>
        </p:nvSpPr>
        <p:spPr>
          <a:xfrm>
            <a:off x="9462968" y="2512695"/>
            <a:ext cx="4015145" cy="4349948"/>
          </a:xfrm>
          <a:prstGeom prst="roundRect">
            <a:avLst>
              <a:gd name="adj" fmla="val 1839"/>
            </a:avLst>
          </a:prstGeom>
          <a:solidFill>
            <a:srgbClr val="0B0C23">
              <a:alpha val="95000"/>
            </a:srgbClr>
          </a:solidFill>
          <a:ln w="2286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7" name="Text 35"/>
          <p:cNvSpPr/>
          <p:nvPr/>
        </p:nvSpPr>
        <p:spPr>
          <a:xfrm>
            <a:off x="9661565" y="2711291"/>
            <a:ext cx="1953816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Deliverables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661565" y="3039666"/>
            <a:ext cx="3617952" cy="758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final package includes all necessary components for app store submission and distribution: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9661565" y="3882509"/>
            <a:ext cx="3617952" cy="1158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Signed APK (8.2 MB)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Signed AAB (7.5 MB)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ProGuard mapping file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Store listing draft</a:t>
            </a:r>
            <a:endParaRPr lang="en-US" sz="135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8C8216B-1F1F-ECB6-8F39-452321C01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4944" y="7637065"/>
            <a:ext cx="3035456" cy="5016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34302" y="1102400"/>
            <a:ext cx="3810833" cy="418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Security Enhancements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034302" y="1562100"/>
            <a:ext cx="4357688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Protecting Data and User Privacy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034302" y="2154436"/>
            <a:ext cx="1674138" cy="20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API Key Protection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34302" y="2466618"/>
            <a:ext cx="5097066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Critical API keys are now securely managed, preventing their exposure in public repositories and ensuring secure access to external services.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034302" y="2988469"/>
            <a:ext cx="5097066" cy="2255996"/>
          </a:xfrm>
          <a:prstGeom prst="roundRect">
            <a:avLst>
              <a:gd name="adj" fmla="val 2805"/>
            </a:avLst>
          </a:prstGeom>
          <a:solidFill>
            <a:srgbClr val="18193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Shape 5"/>
          <p:cNvSpPr/>
          <p:nvPr/>
        </p:nvSpPr>
        <p:spPr>
          <a:xfrm>
            <a:off x="2026801" y="2988469"/>
            <a:ext cx="5112068" cy="2255996"/>
          </a:xfrm>
          <a:prstGeom prst="roundRect">
            <a:avLst>
              <a:gd name="adj" fmla="val 1002"/>
            </a:avLst>
          </a:prstGeom>
          <a:solidFill>
            <a:srgbClr val="18193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2177415" y="3101459"/>
            <a:ext cx="4810839" cy="20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// Before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const val API_KEY = "abc123xyz"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// After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// local.properties (git-ignored)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TMDB_API_KEY=actual_key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// Build config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buildConfigField("String", "TMDB_API_KEY", "\"${properties.getProperty("TMDB_API_KEY")}\"")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034302" y="5360313"/>
            <a:ext cx="1674138" cy="20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34302" y="5672495"/>
            <a:ext cx="5097066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Robust input validation at multiple layers prevents common vulnerabilities and ensures data integrity.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034302" y="6171248"/>
            <a:ext cx="5097066" cy="91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Email format validation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Password strength (min 6 chars)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Review validation (min 10 chars, 1-5 stars)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SQL injection prevention (Room)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506414" y="2154436"/>
            <a:ext cx="1893689" cy="20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Firebase Security Rules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06414" y="2466618"/>
            <a:ext cx="5097066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Carefully crafted Firebase rules enforce data access control, ensuring users can only read/write their own data or public information, safeguarding against unauthorized access.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506414" y="3191470"/>
            <a:ext cx="5097066" cy="3271004"/>
          </a:xfrm>
          <a:prstGeom prst="roundRect">
            <a:avLst>
              <a:gd name="adj" fmla="val 1935"/>
            </a:avLst>
          </a:prstGeom>
          <a:solidFill>
            <a:srgbClr val="18193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Shape 13"/>
          <p:cNvSpPr/>
          <p:nvPr/>
        </p:nvSpPr>
        <p:spPr>
          <a:xfrm>
            <a:off x="7498913" y="3191470"/>
            <a:ext cx="5112068" cy="3271004"/>
          </a:xfrm>
          <a:prstGeom prst="roundRect">
            <a:avLst>
              <a:gd name="adj" fmla="val 691"/>
            </a:avLst>
          </a:prstGeom>
          <a:solidFill>
            <a:srgbClr val="18193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7649528" y="3304461"/>
            <a:ext cx="4810839" cy="3045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{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"reviews": {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"$movieId": {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".read": true, // Public reviews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".write": "auth != null &amp;&amp; ( !data.exists() || data.child('userId').val() === auth.uid )"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}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},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"watchlist": {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"$userId": {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".read": "auth != null &amp;&amp; auth.uid === $userId",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".write": "auth != null &amp;&amp; auth.uid === $userId"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}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}</a:t>
            </a:r>
            <a:endParaRPr lang="en-US" sz="11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}</a:t>
            </a:r>
            <a:endParaRPr lang="en-US" sz="11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7375049-01AE-9637-60AD-35977E8BF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4944" y="7703861"/>
            <a:ext cx="3035456" cy="5016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57550" y="1596747"/>
            <a:ext cx="3417094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Reliability &amp; Error Handling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57550" y="1942624"/>
            <a:ext cx="3652599" cy="25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Building a Resilient User Experience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57550" y="2291120"/>
            <a:ext cx="1983105" cy="4341733"/>
          </a:xfrm>
          <a:prstGeom prst="roundRect">
            <a:avLst>
              <a:gd name="adj" fmla="val 2452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3380899" y="2414468"/>
            <a:ext cx="347305" cy="347305"/>
          </a:xfrm>
          <a:prstGeom prst="roundRect">
            <a:avLst>
              <a:gd name="adj" fmla="val 26325810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6387" y="2509957"/>
            <a:ext cx="156210" cy="1562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80899" y="2822615"/>
            <a:ext cx="135278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Global Error Handling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380899" y="3019782"/>
            <a:ext cx="1736408" cy="706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Every screen within MovieHub is designed to gracefully manage various states, providing a consistent and understandable user experience even when issues arise.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380899" y="3762256"/>
            <a:ext cx="1736408" cy="628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Loading</a:t>
            </a:r>
            <a:endParaRPr lang="en-US" sz="900" dirty="0"/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Success</a:t>
            </a:r>
            <a:endParaRPr lang="en-US" sz="900" dirty="0"/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Error</a:t>
            </a:r>
            <a:r>
              <a:rPr lang="en-US" sz="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(with retry)</a:t>
            </a:r>
            <a:endParaRPr lang="en-US" sz="900" dirty="0"/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Empty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301496" y="2291120"/>
            <a:ext cx="1983224" cy="4341733"/>
          </a:xfrm>
          <a:prstGeom prst="roundRect">
            <a:avLst>
              <a:gd name="adj" fmla="val 2452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Shape 8"/>
          <p:cNvSpPr/>
          <p:nvPr/>
        </p:nvSpPr>
        <p:spPr>
          <a:xfrm>
            <a:off x="5424845" y="2414468"/>
            <a:ext cx="347305" cy="347305"/>
          </a:xfrm>
          <a:prstGeom prst="roundRect">
            <a:avLst>
              <a:gd name="adj" fmla="val 26325810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20333" y="2509957"/>
            <a:ext cx="156210" cy="1562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24845" y="2822615"/>
            <a:ext cx="128635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Retry Strategy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424845" y="3019782"/>
            <a:ext cx="1736527" cy="706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An exponential backoff retry mechanism ensures that transient network issues do not lead to immediate failures, improving application robustness.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424845" y="3794165"/>
            <a:ext cx="1736527" cy="2715339"/>
          </a:xfrm>
          <a:prstGeom prst="roundRect">
            <a:avLst>
              <a:gd name="adj" fmla="val 2800"/>
            </a:avLst>
          </a:prstGeom>
          <a:solidFill>
            <a:srgbClr val="18193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Shape 12"/>
          <p:cNvSpPr/>
          <p:nvPr/>
        </p:nvSpPr>
        <p:spPr>
          <a:xfrm>
            <a:off x="5419130" y="3794165"/>
            <a:ext cx="1747957" cy="2715339"/>
          </a:xfrm>
          <a:prstGeom prst="roundRect">
            <a:avLst>
              <a:gd name="adj" fmla="val 994"/>
            </a:avLst>
          </a:prstGeom>
          <a:solidFill>
            <a:srgbClr val="18193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Text 13"/>
          <p:cNvSpPr/>
          <p:nvPr/>
        </p:nvSpPr>
        <p:spPr>
          <a:xfrm>
            <a:off x="5534858" y="3880961"/>
            <a:ext cx="1516499" cy="2541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suspend fun &lt;T&gt; retryWithBackoff(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maxAttempts: Int = 3,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block: suspend -&gt; T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): Result&lt;T&gt; {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repeat(maxAttempts) { attempt -&gt;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try {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return Result.success(block())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} catch (e: Exception) {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if (attempt == maxAttempts - 1) throw e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delay(2000L * (attempt + 1)) // 2s, 4s, 8s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}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}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}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345561" y="2291120"/>
            <a:ext cx="1983224" cy="4341733"/>
          </a:xfrm>
          <a:prstGeom prst="roundRect">
            <a:avLst>
              <a:gd name="adj" fmla="val 2452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Shape 15"/>
          <p:cNvSpPr/>
          <p:nvPr/>
        </p:nvSpPr>
        <p:spPr>
          <a:xfrm>
            <a:off x="7468910" y="2414468"/>
            <a:ext cx="347305" cy="347305"/>
          </a:xfrm>
          <a:prstGeom prst="roundRect">
            <a:avLst>
              <a:gd name="adj" fmla="val 26325810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64398" y="2509957"/>
            <a:ext cx="156210" cy="15621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468910" y="2822615"/>
            <a:ext cx="134016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Clear Error Messages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7468910" y="3019782"/>
            <a:ext cx="1736527" cy="564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User-friendly error messages replace technical jargon, guiding users on how to resolve issues or understand what went wrong.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7468910" y="3621048"/>
            <a:ext cx="1736527" cy="757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9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Before:</a:t>
            </a:r>
            <a:r>
              <a:rPr lang="en-US" sz="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</a:t>
            </a:r>
            <a:r>
              <a:rPr lang="en-US" sz="90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java.net.SocketTimeoutException</a:t>
            </a:r>
            <a:endParaRPr lang="en-US" sz="900" dirty="0"/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9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After:</a:t>
            </a:r>
            <a:r>
              <a:rPr lang="en-US" sz="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"No internet connection. Please try again."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9389626" y="2291120"/>
            <a:ext cx="1983224" cy="4341733"/>
          </a:xfrm>
          <a:prstGeom prst="roundRect">
            <a:avLst>
              <a:gd name="adj" fmla="val 2452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Shape 20"/>
          <p:cNvSpPr/>
          <p:nvPr/>
        </p:nvSpPr>
        <p:spPr>
          <a:xfrm>
            <a:off x="9512975" y="2414468"/>
            <a:ext cx="347305" cy="347305"/>
          </a:xfrm>
          <a:prstGeom prst="roundRect">
            <a:avLst>
              <a:gd name="adj" fmla="val 26325810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08463" y="2509957"/>
            <a:ext cx="156210" cy="15621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512975" y="2822615"/>
            <a:ext cx="128635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Crash-Free Rate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9512975" y="3019782"/>
            <a:ext cx="1736527" cy="42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Through rigorous testing and error resolution, we significantly improved application stability.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9512975" y="3479840"/>
            <a:ext cx="1736527" cy="42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v1.0.0: </a:t>
            </a:r>
            <a:r>
              <a:rPr lang="en-US" sz="9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97.9%</a:t>
            </a:r>
            <a:r>
              <a:rPr lang="en-US" sz="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v1.1.0: </a:t>
            </a:r>
            <a:r>
              <a:rPr lang="en-US" sz="9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99.5%</a:t>
            </a:r>
            <a:r>
              <a:rPr lang="en-US" sz="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(</a:t>
            </a:r>
            <a:r>
              <a:rPr lang="en-US" sz="900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76% fewer crashes</a:t>
            </a:r>
            <a:r>
              <a:rPr lang="en-US" sz="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)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56215B0-C395-3368-8A6F-70555F70C2D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94944" y="7637065"/>
            <a:ext cx="3035456" cy="5016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838" y="1215866"/>
            <a:ext cx="5041582" cy="471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Performance Improvements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1371838" y="1739027"/>
            <a:ext cx="5334833" cy="376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Optimizing for Speed and Efficiency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1348978" y="2288738"/>
            <a:ext cx="45720" cy="4747855"/>
          </a:xfrm>
          <a:prstGeom prst="rect">
            <a:avLst/>
          </a:prstGeom>
          <a:solidFill>
            <a:srgbClr val="A95B95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1587103" y="2311598"/>
            <a:ext cx="2075021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Database Optimization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587103" y="2625328"/>
            <a:ext cx="3638193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Strategic indexing of frequently accessed columns drastically reduces query execution times, leading to a snappier user experience.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587103" y="3492222"/>
            <a:ext cx="3638193" cy="1934528"/>
          </a:xfrm>
          <a:prstGeom prst="roundRect">
            <a:avLst>
              <a:gd name="adj" fmla="val 3682"/>
            </a:avLst>
          </a:prstGeom>
          <a:solidFill>
            <a:srgbClr val="18193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8" name="Shape 6"/>
          <p:cNvSpPr/>
          <p:nvPr/>
        </p:nvSpPr>
        <p:spPr>
          <a:xfrm>
            <a:off x="1578650" y="3492222"/>
            <a:ext cx="3655100" cy="1934528"/>
          </a:xfrm>
          <a:prstGeom prst="roundRect">
            <a:avLst>
              <a:gd name="adj" fmla="val 1315"/>
            </a:avLst>
          </a:prstGeom>
          <a:solidFill>
            <a:srgbClr val="18193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1748195" y="3619381"/>
            <a:ext cx="3316010" cy="1680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// Added Strategic Indexes:</a:t>
            </a:r>
            <a:endParaRPr lang="en-US" sz="13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CREATE INDEX idx_movie_popularity ON movies(popularity DESC);</a:t>
            </a:r>
            <a:endParaRPr lang="en-US" sz="13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CREATE INDEX idx_movie_updated ON movies(lastUpdated);</a:t>
            </a:r>
            <a:endParaRPr lang="en-US" sz="13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CREATE INDEX idx_watchlist_user_movie ON watchlist(userId, movieId);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87103" y="5573554"/>
            <a:ext cx="3638193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Results:</a:t>
            </a: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Query time: 150ms → </a:t>
            </a:r>
            <a:r>
              <a:rPr lang="en-US" sz="13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45ms</a:t>
            </a: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(</a:t>
            </a:r>
            <a:r>
              <a:rPr lang="en-US" sz="1300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70%</a:t>
            </a: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)</a:t>
            </a:r>
            <a:endParaRPr lang="en-US" sz="13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Watchlist load: 135ms → </a:t>
            </a:r>
            <a:r>
              <a:rPr lang="en-US" sz="13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38ms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65552" y="2288738"/>
            <a:ext cx="45720" cy="4747855"/>
          </a:xfrm>
          <a:prstGeom prst="rect">
            <a:avLst/>
          </a:prstGeom>
          <a:solidFill>
            <a:srgbClr val="A95B95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5603677" y="2311598"/>
            <a:ext cx="1884164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Image Optimization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603677" y="2625328"/>
            <a:ext cx="3638193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Implementing intelligent image downsampling for list views minimizes memory footprint and reduces UI jank during scrolling.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03677" y="3492222"/>
            <a:ext cx="3638193" cy="2174558"/>
          </a:xfrm>
          <a:prstGeom prst="roundRect">
            <a:avLst>
              <a:gd name="adj" fmla="val 3275"/>
            </a:avLst>
          </a:prstGeom>
          <a:solidFill>
            <a:srgbClr val="18193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Shape 13"/>
          <p:cNvSpPr/>
          <p:nvPr/>
        </p:nvSpPr>
        <p:spPr>
          <a:xfrm>
            <a:off x="5595223" y="3492222"/>
            <a:ext cx="3655100" cy="2174558"/>
          </a:xfrm>
          <a:prstGeom prst="roundRect">
            <a:avLst>
              <a:gd name="adj" fmla="val 1170"/>
            </a:avLst>
          </a:prstGeom>
          <a:solidFill>
            <a:srgbClr val="18193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5764768" y="3619381"/>
            <a:ext cx="331601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// Downsampling for Lists:</a:t>
            </a:r>
            <a:endParaRPr lang="en-US" sz="13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AsyncImage(</a:t>
            </a:r>
            <a:endParaRPr lang="en-US" sz="13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model = ImageRequest.Builder(context)</a:t>
            </a:r>
            <a:endParaRPr lang="en-US" sz="13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.data(url)</a:t>
            </a:r>
            <a:endParaRPr lang="en-US" sz="13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.size(200, 300) // Downsample!</a:t>
            </a:r>
            <a:endParaRPr lang="en-US" sz="13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.crossfade(true)</a:t>
            </a:r>
            <a:endParaRPr lang="en-US" sz="13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.build()</a:t>
            </a:r>
            <a:endParaRPr lang="en-US" sz="13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03677" y="5813584"/>
            <a:ext cx="3638193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Results:</a:t>
            </a: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Memory per image: 2.5MB → </a:t>
            </a:r>
            <a:r>
              <a:rPr lang="en-US" sz="13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0.9MB</a:t>
            </a: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(</a:t>
            </a:r>
            <a:r>
              <a:rPr lang="en-US" sz="1300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64%</a:t>
            </a: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)</a:t>
            </a:r>
            <a:endParaRPr lang="en-US" sz="13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Scroll jank: 15% → </a:t>
            </a:r>
            <a:r>
              <a:rPr lang="en-US" sz="13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3%</a:t>
            </a: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(</a:t>
            </a:r>
            <a:r>
              <a:rPr lang="en-US" sz="1300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80%</a:t>
            </a: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82125" y="2288738"/>
            <a:ext cx="45720" cy="4747855"/>
          </a:xfrm>
          <a:prstGeom prst="rect">
            <a:avLst/>
          </a:prstGeom>
          <a:solidFill>
            <a:srgbClr val="A95B95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9620250" y="2311598"/>
            <a:ext cx="1884164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API Efficiency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620250" y="2625328"/>
            <a:ext cx="3638193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 sophisticated caching strategy reduces redundant API calls, minimizing network usage and improving response times.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20250" y="3423642"/>
            <a:ext cx="3638193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Smart Caching: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20250" y="3741896"/>
            <a:ext cx="3638193" cy="811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Check local cache first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Refresh only if stale (&gt;1 hour)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Cache every API response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20250" y="4631412"/>
            <a:ext cx="3638193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Results:</a:t>
            </a: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API calls: 25/session → </a:t>
            </a:r>
            <a:r>
              <a:rPr lang="en-US" sz="13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15/session</a:t>
            </a: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(</a:t>
            </a:r>
            <a:r>
              <a:rPr lang="en-US" sz="1300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40%</a:t>
            </a: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)</a:t>
            </a:r>
            <a:endParaRPr lang="en-US" sz="130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Data usage: 4.2MB → </a:t>
            </a:r>
            <a:r>
              <a:rPr lang="en-US" sz="13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2.5MB</a:t>
            </a:r>
            <a:endParaRPr lang="en-US" sz="13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7957368-A075-C82B-D96C-6C950FD73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4414" y="7727924"/>
            <a:ext cx="3035456" cy="5016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66555" y="1017508"/>
            <a:ext cx="3391257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Quality Assurance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1966555" y="1483638"/>
            <a:ext cx="5927646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Delivering a Polished and Stable Application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966555" y="1981200"/>
            <a:ext cx="5295781" cy="5230773"/>
          </a:xfrm>
          <a:prstGeom prst="roundRect">
            <a:avLst>
              <a:gd name="adj" fmla="val 1225"/>
            </a:avLst>
          </a:prstGeom>
          <a:solidFill>
            <a:srgbClr val="0B0C23">
              <a:alpha val="95000"/>
            </a:srgbClr>
          </a:solidFill>
          <a:ln w="2286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1989415" y="2004060"/>
            <a:ext cx="5250061" cy="457795"/>
          </a:xfrm>
          <a:prstGeom prst="roundRect">
            <a:avLst>
              <a:gd name="adj" fmla="val 8009"/>
            </a:avLst>
          </a:prstGeom>
          <a:solidFill>
            <a:srgbClr val="542C4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4499967" y="2086094"/>
            <a:ext cx="228838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41934" y="2567464"/>
            <a:ext cx="1695569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Testing Coverage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41934" y="2842736"/>
            <a:ext cx="4945023" cy="413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Comprehensive unit tests ensure the reliability and correctness of core application logic across different layers.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41934" y="3319463"/>
            <a:ext cx="4945023" cy="69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Repository layer: </a:t>
            </a:r>
            <a:r>
              <a:rPr lang="en-US" sz="12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87%</a:t>
            </a: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coverage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ViewModel layer: </a:t>
            </a:r>
            <a:r>
              <a:rPr lang="en-US" sz="12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82%</a:t>
            </a: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coverage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Business logic: </a:t>
            </a:r>
            <a:r>
              <a:rPr lang="en-US" sz="12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93%</a:t>
            </a: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coverage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41934" y="4132183"/>
            <a:ext cx="4945023" cy="2502456"/>
          </a:xfrm>
          <a:prstGeom prst="roundRect">
            <a:avLst>
              <a:gd name="adj" fmla="val 2561"/>
            </a:avLst>
          </a:prstGeom>
          <a:solidFill>
            <a:srgbClr val="18193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Shape 9"/>
          <p:cNvSpPr/>
          <p:nvPr/>
        </p:nvSpPr>
        <p:spPr>
          <a:xfrm>
            <a:off x="2134314" y="4132183"/>
            <a:ext cx="4960263" cy="2502456"/>
          </a:xfrm>
          <a:prstGeom prst="roundRect">
            <a:avLst>
              <a:gd name="adj" fmla="val 915"/>
            </a:avLst>
          </a:prstGeom>
          <a:solidFill>
            <a:srgbClr val="18193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2286833" y="4246602"/>
            <a:ext cx="4655225" cy="2273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@Test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fun `getPopularMovies returns cached data when available`() = runTest {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// Given: Cache has data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movieDao.insertMovies(sampleMovies)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// When: Request movies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val result = repository.getPopularMovies()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// Then: Returns cached data immediately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verify(exactly = 0) { api.getPopularMovies() }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assertEquals(sampleMovies, result)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67945" y="1981200"/>
            <a:ext cx="5295781" cy="5230773"/>
          </a:xfrm>
          <a:prstGeom prst="roundRect">
            <a:avLst>
              <a:gd name="adj" fmla="val 1225"/>
            </a:avLst>
          </a:prstGeom>
          <a:solidFill>
            <a:srgbClr val="0B0C23">
              <a:alpha val="95000"/>
            </a:srgbClr>
          </a:solidFill>
          <a:ln w="2286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Shape 12"/>
          <p:cNvSpPr/>
          <p:nvPr/>
        </p:nvSpPr>
        <p:spPr>
          <a:xfrm>
            <a:off x="7390805" y="2004060"/>
            <a:ext cx="5250061" cy="457795"/>
          </a:xfrm>
          <a:prstGeom prst="roundRect">
            <a:avLst>
              <a:gd name="adj" fmla="val 8009"/>
            </a:avLst>
          </a:prstGeom>
          <a:solidFill>
            <a:srgbClr val="542C4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9901357" y="2086094"/>
            <a:ext cx="228838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543324" y="2567464"/>
            <a:ext cx="2234327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QA Testing: 17 Issues Fixed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543324" y="2842736"/>
            <a:ext cx="4945023" cy="413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Rigorous quality assurance testing identified and resolved critical issues, significantly enhancing user experience and stability.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162" y="3374946"/>
            <a:ext cx="4716185" cy="1758315"/>
          </a:xfrm>
          <a:prstGeom prst="roundRect">
            <a:avLst>
              <a:gd name="adj" fmla="val 364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Shape 17"/>
          <p:cNvSpPr/>
          <p:nvPr/>
        </p:nvSpPr>
        <p:spPr>
          <a:xfrm>
            <a:off x="7779782" y="3382566"/>
            <a:ext cx="4700945" cy="3486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7932539" y="3453527"/>
            <a:ext cx="1258372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Priority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503569" y="3453527"/>
            <a:ext cx="1254085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Found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070312" y="3453527"/>
            <a:ext cx="1257895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Fixed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9782" y="3731181"/>
            <a:ext cx="4700945" cy="3486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4" name="Text 22"/>
          <p:cNvSpPr/>
          <p:nvPr/>
        </p:nvSpPr>
        <p:spPr>
          <a:xfrm>
            <a:off x="7932539" y="3802142"/>
            <a:ext cx="1258372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Critical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503569" y="3802142"/>
            <a:ext cx="1254085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070312" y="3802142"/>
            <a:ext cx="1257895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779782" y="4079796"/>
            <a:ext cx="4700945" cy="3486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8" name="Text 26"/>
          <p:cNvSpPr/>
          <p:nvPr/>
        </p:nvSpPr>
        <p:spPr>
          <a:xfrm>
            <a:off x="7932539" y="4150757"/>
            <a:ext cx="1258372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High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503569" y="4150757"/>
            <a:ext cx="1254085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070312" y="4150757"/>
            <a:ext cx="1257895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779782" y="4428411"/>
            <a:ext cx="4700945" cy="3486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2" name="Text 30"/>
          <p:cNvSpPr/>
          <p:nvPr/>
        </p:nvSpPr>
        <p:spPr>
          <a:xfrm>
            <a:off x="7932539" y="4499372"/>
            <a:ext cx="1258372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Medium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503569" y="4499372"/>
            <a:ext cx="1254085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070312" y="4499372"/>
            <a:ext cx="1257895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779782" y="4777026"/>
            <a:ext cx="4700945" cy="3486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6" name="Text 34"/>
          <p:cNvSpPr/>
          <p:nvPr/>
        </p:nvSpPr>
        <p:spPr>
          <a:xfrm>
            <a:off x="7932539" y="4847987"/>
            <a:ext cx="1258372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Low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503569" y="4847987"/>
            <a:ext cx="1254085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070312" y="4847987"/>
            <a:ext cx="1257895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772162" y="5252085"/>
            <a:ext cx="4716185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Key Fixes: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772162" y="5522119"/>
            <a:ext cx="4716185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Crash on empty watchlist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Firebase path error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Session persistence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Network timeouts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Pagination duplicates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772162" y="6766560"/>
            <a:ext cx="4716185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Release Checklist:</a:t>
            </a: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25 items successfully completed.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543324" y="3374946"/>
            <a:ext cx="22860" cy="3598307"/>
          </a:xfrm>
          <a:prstGeom prst="rect">
            <a:avLst/>
          </a:prstGeom>
          <a:solidFill>
            <a:srgbClr val="A95B95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5C5A0443-8304-B899-B2A1-5FC7EFC5F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5252" y="7708279"/>
            <a:ext cx="3035456" cy="5016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66486" y="1548170"/>
            <a:ext cx="4388763" cy="392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Architecture &amp; Code Quality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2366486" y="1976438"/>
            <a:ext cx="7013257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Foundational Principles for Maintainability and Scalability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2351246" y="2425898"/>
            <a:ext cx="3254097" cy="30480"/>
          </a:xfrm>
          <a:prstGeom prst="rect">
            <a:avLst/>
          </a:prstGeom>
          <a:solidFill>
            <a:srgbClr val="A95B95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2366486" y="2597468"/>
            <a:ext cx="1993821" cy="196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Clean Architecture Layers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66486" y="2847856"/>
            <a:ext cx="3223617" cy="555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application adheres to a clean architecture, promoting separation of concerns, testability, and maintainability across all layers.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66486" y="3505438"/>
            <a:ext cx="3223617" cy="3175873"/>
          </a:xfrm>
          <a:prstGeom prst="roundRect">
            <a:avLst>
              <a:gd name="adj" fmla="val 1867"/>
            </a:avLst>
          </a:prstGeom>
          <a:solidFill>
            <a:srgbClr val="18193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8" name="Shape 6"/>
          <p:cNvSpPr/>
          <p:nvPr/>
        </p:nvSpPr>
        <p:spPr>
          <a:xfrm>
            <a:off x="2359462" y="3505438"/>
            <a:ext cx="3237667" cy="3175873"/>
          </a:xfrm>
          <a:prstGeom prst="roundRect">
            <a:avLst>
              <a:gd name="adj" fmla="val 667"/>
            </a:avLst>
          </a:prstGeom>
          <a:solidFill>
            <a:srgbClr val="18193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2500551" y="3611285"/>
            <a:ext cx="2955488" cy="2964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┌─────────────────────────────────┐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UI Layer (Compose + VM)         │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├─────────────────────────────────┤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Domain Layer (Models)           │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├─────────────────────────────────┤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Data Layer (Repository)         │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┌─────┐   ┌─────┐   ┌─────────┐ │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│Room │   │ API │   │Firebase │ │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└─────┘   └─────┘   └─────────┘ │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└─────────────────────────────────┘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87973" y="2425898"/>
            <a:ext cx="3254216" cy="30480"/>
          </a:xfrm>
          <a:prstGeom prst="rect">
            <a:avLst/>
          </a:prstGeom>
          <a:solidFill>
            <a:srgbClr val="A95B95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5703213" y="2597468"/>
            <a:ext cx="2099072" cy="196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Dependency Injection (Hilt)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03213" y="2847856"/>
            <a:ext cx="3223736" cy="555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Hilt facilitates efficient dependency management, reducing boilerplate and simplifying component interactions, essential for large-scale applications.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03213" y="3505438"/>
            <a:ext cx="3223736" cy="2434828"/>
          </a:xfrm>
          <a:prstGeom prst="roundRect">
            <a:avLst>
              <a:gd name="adj" fmla="val 2436"/>
            </a:avLst>
          </a:prstGeom>
          <a:solidFill>
            <a:srgbClr val="18193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Shape 12"/>
          <p:cNvSpPr/>
          <p:nvPr/>
        </p:nvSpPr>
        <p:spPr>
          <a:xfrm>
            <a:off x="5696188" y="3505438"/>
            <a:ext cx="3237786" cy="2434828"/>
          </a:xfrm>
          <a:prstGeom prst="roundRect">
            <a:avLst>
              <a:gd name="adj" fmla="val 870"/>
            </a:avLst>
          </a:prstGeom>
          <a:solidFill>
            <a:srgbClr val="18193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5837277" y="3611285"/>
            <a:ext cx="2955608" cy="2223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@Module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@InstallIn(SingletonComponent::class)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object AppModule {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@Provides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@Singleton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fun provideMovieRepository(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dao: MovieDao,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api: TmdbApiService,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firebase: ReviewsService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): MoviesRepository = MoviesRepositoryImpl(dao, api, firebase)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}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24818" y="2425898"/>
            <a:ext cx="3254097" cy="30480"/>
          </a:xfrm>
          <a:prstGeom prst="rect">
            <a:avLst/>
          </a:prstGeom>
          <a:solidFill>
            <a:srgbClr val="A95B95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9040058" y="2597468"/>
            <a:ext cx="2491264" cy="196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Concurrency (Coroutines + Flow)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40058" y="2847856"/>
            <a:ext cx="3223617" cy="741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Leveraging Kotlin Coroutines and Flow for asynchronous operations ensures responsive UI and efficient background processing, leading to a smooth user experience.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40058" y="3690699"/>
            <a:ext cx="3223617" cy="1323261"/>
          </a:xfrm>
          <a:prstGeom prst="roundRect">
            <a:avLst>
              <a:gd name="adj" fmla="val 4482"/>
            </a:avLst>
          </a:prstGeom>
          <a:solidFill>
            <a:srgbClr val="18193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0" name="Shape 18"/>
          <p:cNvSpPr/>
          <p:nvPr/>
        </p:nvSpPr>
        <p:spPr>
          <a:xfrm>
            <a:off x="9033034" y="3690699"/>
            <a:ext cx="3237667" cy="1323261"/>
          </a:xfrm>
          <a:prstGeom prst="roundRect">
            <a:avLst>
              <a:gd name="adj" fmla="val 1601"/>
            </a:avLst>
          </a:prstGeom>
          <a:solidFill>
            <a:srgbClr val="18193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9174123" y="3796546"/>
            <a:ext cx="2955488" cy="111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val uiState: StateFlow&lt;UiState&gt; = repository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.getPopularMovies()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.map { movies -&gt; UiState.Success(movies) }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.catch { e -&gt; emit(UiState.Error(e.message)) }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8E9"/>
                </a:solidFill>
                <a:highlight>
                  <a:srgbClr val="181930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.stateIn(viewModelScope, SharingStarted.Lazily, UiState.Loading)</a:t>
            </a:r>
            <a:endParaRPr lang="en-US" sz="11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5C7168C-45EB-95B1-7226-499720FF1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1322" y="7694236"/>
            <a:ext cx="3035456" cy="5016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74909" y="686752"/>
            <a:ext cx="5969794" cy="486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Comprehensive Documentation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1174909" y="1229082"/>
            <a:ext cx="6286500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Ensuring Clarity and Future Development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1174909" y="2090142"/>
            <a:ext cx="4000619" cy="1717119"/>
          </a:xfrm>
          <a:prstGeom prst="roundRect">
            <a:avLst>
              <a:gd name="adj" fmla="val 6390"/>
            </a:avLst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1174909" y="2067282"/>
            <a:ext cx="4000619" cy="91440"/>
          </a:xfrm>
          <a:prstGeom prst="roundRect">
            <a:avLst>
              <a:gd name="adj" fmla="val 80472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2912388" y="1827371"/>
            <a:ext cx="525542" cy="525542"/>
          </a:xfrm>
          <a:prstGeom prst="roundRect">
            <a:avLst>
              <a:gd name="adj" fmla="val 173992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3070027" y="1958697"/>
            <a:ext cx="210145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372910" y="2528054"/>
            <a:ext cx="1946553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README.md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2910" y="2854881"/>
            <a:ext cx="3604617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Provides a complete guide for setup, API endpoints, Firebase configuration, and demo credentials.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314831" y="2090142"/>
            <a:ext cx="4000619" cy="1717119"/>
          </a:xfrm>
          <a:prstGeom prst="roundRect">
            <a:avLst>
              <a:gd name="adj" fmla="val 6390"/>
            </a:avLst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Shape 9"/>
          <p:cNvSpPr/>
          <p:nvPr/>
        </p:nvSpPr>
        <p:spPr>
          <a:xfrm>
            <a:off x="5314831" y="2067282"/>
            <a:ext cx="4000619" cy="91440"/>
          </a:xfrm>
          <a:prstGeom prst="roundRect">
            <a:avLst>
              <a:gd name="adj" fmla="val 80472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Shape 10"/>
          <p:cNvSpPr/>
          <p:nvPr/>
        </p:nvSpPr>
        <p:spPr>
          <a:xfrm>
            <a:off x="7052310" y="1827371"/>
            <a:ext cx="525542" cy="525542"/>
          </a:xfrm>
          <a:prstGeom prst="roundRect">
            <a:avLst>
              <a:gd name="adj" fmla="val 173992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7209949" y="1958697"/>
            <a:ext cx="210145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512832" y="2528054"/>
            <a:ext cx="1946553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ARCHITECTURE.md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12832" y="2854881"/>
            <a:ext cx="3604617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Detailed diagrams and descriptions of the application's data flow, components, and testing strategy.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454753" y="2090142"/>
            <a:ext cx="4000619" cy="1717119"/>
          </a:xfrm>
          <a:prstGeom prst="roundRect">
            <a:avLst>
              <a:gd name="adj" fmla="val 6390"/>
            </a:avLst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Shape 15"/>
          <p:cNvSpPr/>
          <p:nvPr/>
        </p:nvSpPr>
        <p:spPr>
          <a:xfrm>
            <a:off x="9454753" y="2067282"/>
            <a:ext cx="4000619" cy="91440"/>
          </a:xfrm>
          <a:prstGeom prst="roundRect">
            <a:avLst>
              <a:gd name="adj" fmla="val 80472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Shape 16"/>
          <p:cNvSpPr/>
          <p:nvPr/>
        </p:nvSpPr>
        <p:spPr>
          <a:xfrm>
            <a:off x="11192232" y="1827371"/>
            <a:ext cx="525542" cy="525542"/>
          </a:xfrm>
          <a:prstGeom prst="roundRect">
            <a:avLst>
              <a:gd name="adj" fmla="val 173992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11349871" y="1958697"/>
            <a:ext cx="210145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652754" y="2528054"/>
            <a:ext cx="1946553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RELEASE_NOTES.md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52754" y="2854881"/>
            <a:ext cx="36046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Documents new features in v1.1.0, performance metrics, bug fixes, and any known limitations.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174909" y="4209336"/>
            <a:ext cx="4000619" cy="1717119"/>
          </a:xfrm>
          <a:prstGeom prst="roundRect">
            <a:avLst>
              <a:gd name="adj" fmla="val 6390"/>
            </a:avLst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3" name="Shape 21"/>
          <p:cNvSpPr/>
          <p:nvPr/>
        </p:nvSpPr>
        <p:spPr>
          <a:xfrm>
            <a:off x="1174909" y="4186476"/>
            <a:ext cx="4000619" cy="91440"/>
          </a:xfrm>
          <a:prstGeom prst="roundRect">
            <a:avLst>
              <a:gd name="adj" fmla="val 80472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4" name="Shape 22"/>
          <p:cNvSpPr/>
          <p:nvPr/>
        </p:nvSpPr>
        <p:spPr>
          <a:xfrm>
            <a:off x="2912388" y="3946565"/>
            <a:ext cx="525542" cy="525542"/>
          </a:xfrm>
          <a:prstGeom prst="roundRect">
            <a:avLst>
              <a:gd name="adj" fmla="val 173992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5" name="Text 23"/>
          <p:cNvSpPr/>
          <p:nvPr/>
        </p:nvSpPr>
        <p:spPr>
          <a:xfrm>
            <a:off x="3070027" y="4077891"/>
            <a:ext cx="210145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4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372910" y="4647248"/>
            <a:ext cx="1946553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QA_LOG.md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72910" y="4974074"/>
            <a:ext cx="3604617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Records all issues found and fixed during QA, including test scenarios and device compatibility notes.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314831" y="4209336"/>
            <a:ext cx="4000619" cy="1717119"/>
          </a:xfrm>
          <a:prstGeom prst="roundRect">
            <a:avLst>
              <a:gd name="adj" fmla="val 6390"/>
            </a:avLst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9" name="Shape 27"/>
          <p:cNvSpPr/>
          <p:nvPr/>
        </p:nvSpPr>
        <p:spPr>
          <a:xfrm>
            <a:off x="5314831" y="4186476"/>
            <a:ext cx="4000619" cy="91440"/>
          </a:xfrm>
          <a:prstGeom prst="roundRect">
            <a:avLst>
              <a:gd name="adj" fmla="val 80472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0" name="Shape 28"/>
          <p:cNvSpPr/>
          <p:nvPr/>
        </p:nvSpPr>
        <p:spPr>
          <a:xfrm>
            <a:off x="7052310" y="3946565"/>
            <a:ext cx="525542" cy="525542"/>
          </a:xfrm>
          <a:prstGeom prst="roundRect">
            <a:avLst>
              <a:gd name="adj" fmla="val 173992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1" name="Text 29"/>
          <p:cNvSpPr/>
          <p:nvPr/>
        </p:nvSpPr>
        <p:spPr>
          <a:xfrm>
            <a:off x="7209949" y="4077891"/>
            <a:ext cx="210145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5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5512832" y="4647248"/>
            <a:ext cx="2207062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FIREBASE_SECURITY.md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512832" y="4974074"/>
            <a:ext cx="36046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Explains Firebase security rules, access control mechanisms, and data validation processes.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9454753" y="4209336"/>
            <a:ext cx="4000619" cy="1717119"/>
          </a:xfrm>
          <a:prstGeom prst="roundRect">
            <a:avLst>
              <a:gd name="adj" fmla="val 6390"/>
            </a:avLst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5" name="Shape 33"/>
          <p:cNvSpPr/>
          <p:nvPr/>
        </p:nvSpPr>
        <p:spPr>
          <a:xfrm>
            <a:off x="9454753" y="4186476"/>
            <a:ext cx="4000619" cy="91440"/>
          </a:xfrm>
          <a:prstGeom prst="roundRect">
            <a:avLst>
              <a:gd name="adj" fmla="val 80472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6" name="Shape 34"/>
          <p:cNvSpPr/>
          <p:nvPr/>
        </p:nvSpPr>
        <p:spPr>
          <a:xfrm>
            <a:off x="11192232" y="3946565"/>
            <a:ext cx="525542" cy="525542"/>
          </a:xfrm>
          <a:prstGeom prst="roundRect">
            <a:avLst>
              <a:gd name="adj" fmla="val 173992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7" name="Text 35"/>
          <p:cNvSpPr/>
          <p:nvPr/>
        </p:nvSpPr>
        <p:spPr>
          <a:xfrm>
            <a:off x="11349871" y="4077891"/>
            <a:ext cx="210145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6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9652754" y="4647248"/>
            <a:ext cx="1946553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STORE_LISTING.md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652754" y="4974074"/>
            <a:ext cx="3604617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Drafts the app description, plans for screenshots, keywords, and marketing strategy for app store submission.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1174909" y="6328529"/>
            <a:ext cx="12280463" cy="1214199"/>
          </a:xfrm>
          <a:prstGeom prst="roundRect">
            <a:avLst>
              <a:gd name="adj" fmla="val 9037"/>
            </a:avLst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1" name="Shape 39"/>
          <p:cNvSpPr/>
          <p:nvPr/>
        </p:nvSpPr>
        <p:spPr>
          <a:xfrm>
            <a:off x="1174909" y="6305669"/>
            <a:ext cx="12280463" cy="91440"/>
          </a:xfrm>
          <a:prstGeom prst="roundRect">
            <a:avLst>
              <a:gd name="adj" fmla="val 80472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2" name="Shape 40"/>
          <p:cNvSpPr/>
          <p:nvPr/>
        </p:nvSpPr>
        <p:spPr>
          <a:xfrm>
            <a:off x="7052310" y="6065758"/>
            <a:ext cx="525542" cy="525542"/>
          </a:xfrm>
          <a:prstGeom prst="roundRect">
            <a:avLst>
              <a:gd name="adj" fmla="val 173992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3" name="Text 41"/>
          <p:cNvSpPr/>
          <p:nvPr/>
        </p:nvSpPr>
        <p:spPr>
          <a:xfrm>
            <a:off x="7209949" y="6197084"/>
            <a:ext cx="210145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7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372910" y="6766441"/>
            <a:ext cx="2353747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BUILD_INSTRUCTIONS.md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372910" y="7093268"/>
            <a:ext cx="11884462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Step-by-step guide for building the application, including signing configuration and CI/CD setup.</a:t>
            </a:r>
            <a:endParaRPr lang="en-US" sz="135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CC3FE539-2FBA-961F-3ADA-4A9DBCB0D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0016" y="7626310"/>
            <a:ext cx="3035456" cy="5016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1619</Words>
  <Application>Microsoft Office PowerPoint</Application>
  <PresentationFormat>Custom</PresentationFormat>
  <Paragraphs>273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Mukta Light</vt:lpstr>
      <vt:lpstr>Consolas Light</vt:lpstr>
      <vt:lpstr>Prompt Medium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Никита Цыбус</cp:lastModifiedBy>
  <cp:revision>2</cp:revision>
  <dcterms:created xsi:type="dcterms:W3CDTF">2026-02-13T07:28:28Z</dcterms:created>
  <dcterms:modified xsi:type="dcterms:W3CDTF">2026-02-13T07:31:27Z</dcterms:modified>
</cp:coreProperties>
</file>